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:in und Datum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Autor:in und Datum</a:t>
            </a:r>
          </a:p>
        </p:txBody>
      </p:sp>
      <p:sp>
        <p:nvSpPr>
          <p:cNvPr id="12" name="Titel der Präsentatio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Nahaufnahme eines Heißluftballons von oben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el der Präsentatio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Titel der Präsentation</a:t>
            </a:r>
          </a:p>
        </p:txBody>
      </p:sp>
      <p:sp>
        <p:nvSpPr>
          <p:cNvPr id="23" name="Autor:in und Datum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Autor:in und Datum</a:t>
            </a:r>
          </a:p>
        </p:txBody>
      </p:sp>
      <p:sp>
        <p:nvSpPr>
          <p:cNvPr id="24" name="Textebene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Präsentationsuntertitel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haufnahme eines Heißluftballons von unten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Folientitel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Folientitel</a:t>
            </a:r>
          </a:p>
        </p:txBody>
      </p:sp>
      <p:sp>
        <p:nvSpPr>
          <p:cNvPr id="34" name="Textebene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Folien-Untertitel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lientitel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43" name="Folien-Untertitel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44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lien-Untertitel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61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eißluftballon von unten vor blauem Himmel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Folientitel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6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lien-Untertitel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72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Folientitel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7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lien-Untertitel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82" name="Textebene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Folientitel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84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el des Abschnitts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Titel des Abschnitts</a:t>
            </a:r>
          </a:p>
        </p:txBody>
      </p:sp>
      <p:sp>
        <p:nvSpPr>
          <p:cNvPr id="92" name="Foliennumm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lientitel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Folientitel</a:t>
            </a:r>
          </a:p>
        </p:txBody>
      </p:sp>
      <p:sp>
        <p:nvSpPr>
          <p:cNvPr id="100" name="Folien-Untertitel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Folien-Untertitel</a:t>
            </a:r>
          </a:p>
        </p:txBody>
      </p:sp>
      <p:sp>
        <p:nvSpPr>
          <p:cNvPr id="10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-Titel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Agenda-Titel</a:t>
            </a:r>
          </a:p>
        </p:txBody>
      </p:sp>
      <p:sp>
        <p:nvSpPr>
          <p:cNvPr id="109" name="Agenda-Untertitel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Agenda-Untertitel</a:t>
            </a:r>
          </a:p>
        </p:txBody>
      </p:sp>
      <p:sp>
        <p:nvSpPr>
          <p:cNvPr id="110" name="Textebene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Agendathemen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ebene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Aufstellung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ebene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kte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Fakten</a:t>
            </a:r>
          </a:p>
        </p:txBody>
      </p:sp>
      <p:sp>
        <p:nvSpPr>
          <p:cNvPr id="1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Quellenangabe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Quellenangabe</a:t>
            </a:r>
          </a:p>
        </p:txBody>
      </p:sp>
      <p:sp>
        <p:nvSpPr>
          <p:cNvPr id="136" name="Textebene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„Bemerkenswert“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eißluftballon von unten vor blauem Himmel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Nahaufnahme eines Heißluftballons von oben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eißluftballon von unten vor blauem Himmel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eißluftballon von unten vor blauem Himmel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Folientitel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für Folienpunkt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keep_coding.png" descr="keep_cod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4117" y="-113272"/>
            <a:ext cx="28711498" cy="14235785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ubmission Cloover3"/>
          <p:cNvSpPr txBox="1"/>
          <p:nvPr>
            <p:ph type="ctrTitle"/>
          </p:nvPr>
        </p:nvSpPr>
        <p:spPr>
          <a:xfrm>
            <a:off x="762201" y="-1946373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Submission Cloover3</a:t>
            </a:r>
          </a:p>
        </p:txBody>
      </p:sp>
      <p:sp>
        <p:nvSpPr>
          <p:cNvPr id="173" name="AI Sales Coach"/>
          <p:cNvSpPr txBox="1"/>
          <p:nvPr>
            <p:ph type="subTitle" sz="quarter" idx="1"/>
          </p:nvPr>
        </p:nvSpPr>
        <p:spPr>
          <a:xfrm>
            <a:off x="11394011" y="7524111"/>
            <a:ext cx="21971001" cy="1905001"/>
          </a:xfrm>
          <a:prstGeom prst="rect">
            <a:avLst/>
          </a:prstGeom>
        </p:spPr>
        <p:txBody>
          <a:bodyPr/>
          <a:lstStyle/>
          <a:p>
            <a:pPr/>
            <a:r>
              <a:t>AI Sales Coach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he 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problem</a:t>
            </a:r>
          </a:p>
        </p:txBody>
      </p:sp>
      <p:sp>
        <p:nvSpPr>
          <p:cNvPr id="176" name="Imagine you’re a sales representative at a company that installs solar panels and heat pumps for residential customers in German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Imagine you’re a sales representative at a company that installs solar panels and heat pumps for residential customers in Germany</a:t>
            </a:r>
          </a:p>
          <a:p>
            <a:pPr/>
            <a:r>
              <a:t>A new lead comes in—a homeowner in a small town two hours south of Frankfurt.</a:t>
            </a:r>
          </a:p>
          <a:p>
            <a:pPr/>
            <a:r>
              <a:t>You know his name, his address, and that he clicked on a heat pump ad. That’s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How we understood the 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we understood the problem</a:t>
            </a:r>
          </a:p>
        </p:txBody>
      </p:sp>
      <p:sp>
        <p:nvSpPr>
          <p:cNvPr id="179" name="The customer wants a solution as soon as possible but has no idea about:…"/>
          <p:cNvSpPr txBox="1"/>
          <p:nvPr>
            <p:ph type="body" idx="1"/>
          </p:nvPr>
        </p:nvSpPr>
        <p:spPr>
          <a:xfrm>
            <a:off x="1206500" y="2921538"/>
            <a:ext cx="21971000" cy="9582978"/>
          </a:xfrm>
          <a:prstGeom prst="rect">
            <a:avLst/>
          </a:prstGeom>
        </p:spPr>
        <p:txBody>
          <a:bodyPr/>
          <a:lstStyle/>
          <a:p>
            <a:pPr marL="384047" indent="-384047" defTabSz="1536153">
              <a:spcBef>
                <a:spcPts val="2800"/>
              </a:spcBef>
              <a:defRPr sz="3024"/>
            </a:pPr>
            <a:r>
              <a:t>The customer wants a solution as soon as possible but has no idea about:</a:t>
            </a:r>
          </a:p>
          <a:p>
            <a:pPr lvl="1" marL="768095" indent="-384047" defTabSz="1536153">
              <a:spcBef>
                <a:spcPts val="2800"/>
              </a:spcBef>
              <a:defRPr sz="3024"/>
            </a:pPr>
            <a:r>
              <a:t> Products</a:t>
            </a:r>
          </a:p>
          <a:p>
            <a:pPr lvl="1" marL="768095" indent="-384047" defTabSz="1536153">
              <a:spcBef>
                <a:spcPts val="2800"/>
              </a:spcBef>
              <a:defRPr sz="3024"/>
            </a:pPr>
            <a:r>
              <a:t>Market conditions</a:t>
            </a:r>
          </a:p>
          <a:p>
            <a:pPr lvl="1" marL="768095" indent="-384047" defTabSz="1536153">
              <a:spcBef>
                <a:spcPts val="2800"/>
              </a:spcBef>
              <a:defRPr sz="3024"/>
            </a:pPr>
            <a:r>
              <a:t>Installation time and scope</a:t>
            </a:r>
          </a:p>
          <a:p>
            <a:pPr lvl="1" marL="768095" indent="-384047" defTabSz="1536153">
              <a:spcBef>
                <a:spcPts val="2800"/>
              </a:spcBef>
              <a:defRPr sz="3024"/>
            </a:pPr>
            <a:r>
              <a:t>Laws and incentives</a:t>
            </a:r>
          </a:p>
          <a:p>
            <a:pPr lvl="1" marL="768095" indent="-384047" defTabSz="1536153">
              <a:spcBef>
                <a:spcPts val="2800"/>
              </a:spcBef>
              <a:defRPr sz="3024"/>
            </a:pPr>
            <a:r>
              <a:t>What information an installer needs</a:t>
            </a:r>
          </a:p>
          <a:p>
            <a:pPr marL="384047" indent="-384047" defTabSz="1536153">
              <a:spcBef>
                <a:spcPts val="2800"/>
              </a:spcBef>
              <a:defRPr sz="3024"/>
            </a:pPr>
            <a:r>
              <a:t> Sales reps need as much relevant installation data as possible</a:t>
            </a:r>
          </a:p>
          <a:p>
            <a:pPr lvl="1" marL="768095" indent="-384047" defTabSz="1536153">
              <a:spcBef>
                <a:spcPts val="2800"/>
              </a:spcBef>
              <a:defRPr sz="3024"/>
            </a:pPr>
            <a:r>
              <a:t>They frequently visit customers but are unable to finalize a quote due to missing data</a:t>
            </a:r>
          </a:p>
          <a:p>
            <a:pPr lvl="1" marL="768095" indent="-384047" defTabSz="1536153">
              <a:spcBef>
                <a:spcPts val="2800"/>
              </a:spcBef>
              <a:defRPr sz="3024"/>
            </a:pPr>
            <a:r>
              <a:t>Filling in the necessary installation information is a difficult and time-consuming process</a:t>
            </a:r>
          </a:p>
          <a:p>
            <a:pPr marL="384047" indent="-384047" defTabSz="1536153">
              <a:spcBef>
                <a:spcPts val="2800"/>
              </a:spcBef>
              <a:defRPr sz="3024"/>
            </a:pPr>
            <a:r>
              <a:t>The sales representative is on the way to meet the customer, and their AI sales coach assistant is giving them final tips</a:t>
            </a:r>
          </a:p>
          <a:p>
            <a:pPr marL="384047" indent="-384047" defTabSz="1536153">
              <a:spcBef>
                <a:spcPts val="2800"/>
              </a:spcBef>
              <a:defRPr sz="3024"/>
            </a:pPr>
            <a:r>
              <a:t>Once there, the end customer and the sales representative will go through various scenarios based on a range of offer options, without having to wait for data to be populated by entering optional information</a:t>
            </a:r>
          </a:p>
          <a:p>
            <a:pPr marL="384047" indent="-384047" defTabSz="1536153">
              <a:spcBef>
                <a:spcPts val="2800"/>
              </a:spcBef>
              <a:defRPr sz="3024"/>
            </a:pPr>
            <a:r>
              <a:t> The salesperson is presented with various options and questions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 brief demonstration of the dem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brief demonstration of the demo</a:t>
            </a:r>
          </a:p>
        </p:txBody>
      </p:sp>
      <p:sp>
        <p:nvSpPr>
          <p:cNvPr id="182" name="We decided to go with a Svelte + Ktor + PostgreSQL stack"/>
          <p:cNvSpPr txBox="1"/>
          <p:nvPr>
            <p:ph type="body" idx="1"/>
          </p:nvPr>
        </p:nvSpPr>
        <p:spPr>
          <a:xfrm>
            <a:off x="1206500" y="2513382"/>
            <a:ext cx="21971000" cy="9991134"/>
          </a:xfrm>
          <a:prstGeom prst="rect">
            <a:avLst/>
          </a:prstGeom>
        </p:spPr>
        <p:txBody>
          <a:bodyPr/>
          <a:lstStyle/>
          <a:p>
            <a:pPr/>
            <a:r>
              <a:t>We decided to go with a Svelte + Ktor + PostgreSQL stack</a:t>
            </a:r>
          </a:p>
        </p:txBody>
      </p:sp>
      <p:pic>
        <p:nvPicPr>
          <p:cNvPr id="183" name="architecture_grob.png" descr="architecture_gro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40919" y="3990109"/>
            <a:ext cx="11518901" cy="787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scenarios.png" descr="scenario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2577" y="3753709"/>
            <a:ext cx="8940801" cy="9245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A brief demonstration of the dem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brief demonstration of the demo</a:t>
            </a:r>
          </a:p>
        </p:txBody>
      </p:sp>
      <p:pic>
        <p:nvPicPr>
          <p:cNvPr id="187" name="add_new_customer.png" descr="add_new_custome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8907" y="2407818"/>
            <a:ext cx="5383464" cy="97692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customer_overview.png" descr="customer_overview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35568" y="3420430"/>
            <a:ext cx="8736482" cy="39221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max_mustermann.png" descr="max_musterman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959184" y="2230617"/>
            <a:ext cx="7696066" cy="5357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search_view.png" descr="search_view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248042" y="7675701"/>
            <a:ext cx="9590007" cy="52447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Key assumptions we have ma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assumptions we have made</a:t>
            </a:r>
          </a:p>
        </p:txBody>
      </p:sp>
      <p:sp>
        <p:nvSpPr>
          <p:cNvPr id="193" name="The customer has already expressed interest in a specific product category…"/>
          <p:cNvSpPr txBox="1"/>
          <p:nvPr>
            <p:ph type="body" idx="1"/>
          </p:nvPr>
        </p:nvSpPr>
        <p:spPr>
          <a:xfrm>
            <a:off x="1206500" y="2642322"/>
            <a:ext cx="21971000" cy="9862194"/>
          </a:xfrm>
          <a:prstGeom prst="rect">
            <a:avLst/>
          </a:prstGeom>
        </p:spPr>
        <p:txBody>
          <a:bodyPr/>
          <a:lstStyle/>
          <a:p>
            <a:pPr/>
            <a:r>
              <a:t>The customer has already expressed interest in a specific product category</a:t>
            </a:r>
          </a:p>
          <a:p>
            <a:pPr/>
            <a:r>
              <a:t>Geodata such as solar factor and heat pump suitability (surface area or depth) are available for Germany and can be queried directly for a property address</a:t>
            </a:r>
          </a:p>
          <a:p>
            <a:pPr/>
            <a:r>
              <a:t>For subsidies, only German laws and subsidies apply</a:t>
            </a:r>
          </a:p>
          <a:p>
            <a:pPr/>
            <a:r>
              <a:t>Product prices, availability, and information are available on demand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otential impact of widespread u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Potential impact of widespread use</a:t>
            </a:r>
          </a:p>
        </p:txBody>
      </p:sp>
      <p:sp>
        <p:nvSpPr>
          <p:cNvPr id="196" name="Customers are asked more targeted question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Customers are asked more targeted questions</a:t>
            </a:r>
          </a:p>
          <a:p>
            <a:pPr/>
            <a:r>
              <a:t>Customers have greater confidence in the process</a:t>
            </a:r>
          </a:p>
          <a:p>
            <a:pPr/>
            <a:r>
              <a:t>Customers have a more realistic understanding of the installation</a:t>
            </a:r>
          </a:p>
          <a:p>
            <a:pPr/>
            <a:r>
              <a:t>Installers have greater planning certainty</a:t>
            </a:r>
          </a:p>
          <a:p>
            <a:pPr/>
            <a:r>
              <a:t>The energy transition can proceed more quickly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roble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Problems</a:t>
            </a:r>
          </a:p>
        </p:txBody>
      </p:sp>
      <p:sp>
        <p:nvSpPr>
          <p:cNvPr id="199" name="The AI's API token for backend implementation was constantly invali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AI's API token for backend implementation was constantly invalid</a:t>
            </a:r>
          </a:p>
          <a:p>
            <a:pPr/>
            <a:r>
              <a:t>AI credits were immediately invalid</a:t>
            </a:r>
          </a:p>
          <a:p>
            <a:pPr/>
            <a:r>
              <a:t>Internet bandwidth was no longer sufficient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keep_coding.png" descr="keep_cod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4117" y="-113272"/>
            <a:ext cx="28711498" cy="14235785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Thank you 🥳"/>
          <p:cNvSpPr txBox="1"/>
          <p:nvPr>
            <p:ph type="title"/>
          </p:nvPr>
        </p:nvSpPr>
        <p:spPr>
          <a:xfrm>
            <a:off x="1572390" y="1380620"/>
            <a:ext cx="13182071" cy="4720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5D5D5"/>
                </a:solidFill>
              </a:defRPr>
            </a:lvl1pPr>
          </a:lstStyle>
          <a:p>
            <a:pPr/>
            <a:r>
              <a:t>Thank you 🥳</a:t>
            </a:r>
          </a:p>
        </p:txBody>
      </p:sp>
      <p:sp>
        <p:nvSpPr>
          <p:cNvPr id="203" name="keep coding"/>
          <p:cNvSpPr txBox="1"/>
          <p:nvPr/>
        </p:nvSpPr>
        <p:spPr>
          <a:xfrm>
            <a:off x="10768252" y="7126656"/>
            <a:ext cx="13182070" cy="4720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>
                <a:solidFill>
                  <a:srgbClr val="D5D5D5"/>
                </a:solidFill>
              </a:defRPr>
            </a:lvl1pPr>
          </a:lstStyle>
          <a:p>
            <a:pPr/>
            <a:r>
              <a:t>keep coding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