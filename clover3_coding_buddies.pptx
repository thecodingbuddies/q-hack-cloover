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9" name="Shape 16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el">
    <p:bg>
      <p:bgPr>
        <a:solidFill>
          <a:srgbClr val="0034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r:in und Datum"/>
          <p:cNvSpPr txBox="1"/>
          <p:nvPr>
            <p:ph type="body" sz="quarter" idx="21" hasCustomPrompt="1"/>
          </p:nvPr>
        </p:nvSpPr>
        <p:spPr>
          <a:xfrm>
            <a:off x="1201340" y="118471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Autor:in und Datum</a:t>
            </a:r>
          </a:p>
        </p:txBody>
      </p:sp>
      <p:sp>
        <p:nvSpPr>
          <p:cNvPr id="12" name="Titel der Präsentation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pc="-232" sz="11600">
                <a:solidFill>
                  <a:srgbClr val="FFFFFF"/>
                </a:solidFill>
              </a:defRPr>
            </a:lvl1pPr>
          </a:lstStyle>
          <a:p>
            <a:pPr/>
            <a:r>
              <a:t>Titel der Präsentation</a:t>
            </a:r>
          </a:p>
        </p:txBody>
      </p:sp>
      <p:sp>
        <p:nvSpPr>
          <p:cNvPr id="13" name="Textebene 1…"/>
          <p:cNvSpPr txBox="1"/>
          <p:nvPr>
            <p:ph type="body" sz="quarter" idx="1" hasCustomPrompt="1"/>
          </p:nvPr>
        </p:nvSpPr>
        <p:spPr>
          <a:xfrm>
            <a:off x="1201342" y="72104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>
                <a:solidFill>
                  <a:schemeClr val="accent1"/>
                </a:solidFill>
              </a:defRPr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>
                <a:solidFill>
                  <a:schemeClr val="accent1"/>
                </a:solidFill>
              </a:defRPr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>
                <a:solidFill>
                  <a:schemeClr val="accent1"/>
                </a:solidFill>
              </a:defRPr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>
                <a:solidFill>
                  <a:schemeClr val="accent1"/>
                </a:solidFill>
              </a:defRPr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>
                <a:solidFill>
                  <a:schemeClr val="accent1"/>
                </a:solidFill>
              </a:defRPr>
            </a:lvl5pPr>
          </a:lstStyle>
          <a:p>
            <a:pPr/>
            <a:r>
              <a:t>Präsentationsuntertitel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Nahaufnahme eines Heißluftballons von oben"/>
          <p:cNvSpPr/>
          <p:nvPr>
            <p:ph type="pic" idx="21"/>
          </p:nvPr>
        </p:nvSpPr>
        <p:spPr>
          <a:xfrm>
            <a:off x="0" y="-1270000"/>
            <a:ext cx="24384000" cy="1625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Titel der Präsentation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>
                <a:solidFill>
                  <a:srgbClr val="FFFFFF"/>
                </a:solidFill>
              </a:defRPr>
            </a:lvl1pPr>
          </a:lstStyle>
          <a:p>
            <a:pPr/>
            <a:r>
              <a:t>Titel der Präsentation</a:t>
            </a:r>
          </a:p>
        </p:txBody>
      </p:sp>
      <p:sp>
        <p:nvSpPr>
          <p:cNvPr id="23" name="Autor:in und Datum"/>
          <p:cNvSpPr txBox="1"/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Autor:in und Datum</a:t>
            </a:r>
          </a:p>
        </p:txBody>
      </p:sp>
      <p:sp>
        <p:nvSpPr>
          <p:cNvPr id="24" name="Textebene 1…"/>
          <p:cNvSpPr txBox="1"/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>
                <a:solidFill>
                  <a:srgbClr val="FFFFFF"/>
                </a:solidFill>
              </a:defRPr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>
                <a:solidFill>
                  <a:srgbClr val="FFFFFF"/>
                </a:solidFill>
              </a:defRPr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>
                <a:solidFill>
                  <a:srgbClr val="FFFFFF"/>
                </a:solidFill>
              </a:defRPr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>
                <a:solidFill>
                  <a:srgbClr val="FFFFFF"/>
                </a:solidFill>
              </a:defRPr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>
                <a:solidFill>
                  <a:srgbClr val="FFFFFF"/>
                </a:solidFill>
              </a:defRPr>
            </a:lvl5pPr>
          </a:lstStyle>
          <a:p>
            <a:pPr/>
            <a:r>
              <a:t>Präsentationsuntertitel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Nahaufnahme eines Heißluftballons von unten"/>
          <p:cNvSpPr/>
          <p:nvPr>
            <p:ph type="pic" idx="21"/>
          </p:nvPr>
        </p:nvSpPr>
        <p:spPr>
          <a:xfrm>
            <a:off x="9226574" y="1270000"/>
            <a:ext cx="16840152" cy="1118443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Folientitel"/>
          <p:cNvSpPr txBox="1"/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Folientitel</a:t>
            </a:r>
          </a:p>
        </p:txBody>
      </p:sp>
      <p:sp>
        <p:nvSpPr>
          <p:cNvPr id="34" name="Textebene 1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Folien-Untertitel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Foliennumm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Folientitel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Folientitel</a:t>
            </a:r>
          </a:p>
        </p:txBody>
      </p:sp>
      <p:sp>
        <p:nvSpPr>
          <p:cNvPr id="43" name="Folien-Untertitel"/>
          <p:cNvSpPr txBox="1"/>
          <p:nvPr>
            <p:ph type="body" sz="quarter" idx="21" hasCustomPrompt="1"/>
          </p:nvPr>
        </p:nvSpPr>
        <p:spPr>
          <a:xfrm>
            <a:off x="1206500" y="2245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Folien-Untertitel</a:t>
            </a:r>
          </a:p>
        </p:txBody>
      </p:sp>
      <p:sp>
        <p:nvSpPr>
          <p:cNvPr id="44" name="Textebene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 für Folienpunkt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ebene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pPr/>
            <a:r>
              <a:t>Text für Folienpunkt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, Punkte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Folien-Untertitel"/>
          <p:cNvSpPr txBox="1"/>
          <p:nvPr>
            <p:ph type="body" sz="quarter" idx="21" hasCustomPrompt="1"/>
          </p:nvPr>
        </p:nvSpPr>
        <p:spPr>
          <a:xfrm>
            <a:off x="1206500" y="2247900"/>
            <a:ext cx="9779000" cy="9347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Folien-Untertitel</a:t>
            </a:r>
          </a:p>
        </p:txBody>
      </p:sp>
      <p:sp>
        <p:nvSpPr>
          <p:cNvPr id="61" name="Textebene 1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Text für Folienpunkt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2" name="Heißluftballon von unten vor blauem Himmel"/>
          <p:cNvSpPr/>
          <p:nvPr>
            <p:ph type="pic" idx="22"/>
          </p:nvPr>
        </p:nvSpPr>
        <p:spPr>
          <a:xfrm>
            <a:off x="8432800" y="1263848"/>
            <a:ext cx="16850011" cy="1118820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Folientitel"/>
          <p:cNvSpPr txBox="1"/>
          <p:nvPr>
            <p:ph type="title" hasCustomPrompt="1"/>
          </p:nvPr>
        </p:nvSpPr>
        <p:spPr>
          <a:xfrm>
            <a:off x="1206500" y="952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Folientitel</a:t>
            </a:r>
          </a:p>
        </p:txBody>
      </p:sp>
      <p:sp>
        <p:nvSpPr>
          <p:cNvPr id="6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, Punkte &amp; Livevideo – kl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Folien-Untertitel"/>
          <p:cNvSpPr txBox="1"/>
          <p:nvPr>
            <p:ph type="body" sz="quarter" idx="21" hasCustomPrompt="1"/>
          </p:nvPr>
        </p:nvSpPr>
        <p:spPr>
          <a:xfrm>
            <a:off x="1206500" y="2247900"/>
            <a:ext cx="9779000" cy="9347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Folien-Untertitel</a:t>
            </a:r>
          </a:p>
        </p:txBody>
      </p:sp>
      <p:sp>
        <p:nvSpPr>
          <p:cNvPr id="72" name="Textebene 1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Text für Folienpunkt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3" name="Folientitel"/>
          <p:cNvSpPr txBox="1"/>
          <p:nvPr>
            <p:ph type="title" hasCustomPrompt="1"/>
          </p:nvPr>
        </p:nvSpPr>
        <p:spPr>
          <a:xfrm>
            <a:off x="1206500" y="952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Folientitel</a:t>
            </a:r>
          </a:p>
        </p:txBody>
      </p:sp>
      <p:sp>
        <p:nvSpPr>
          <p:cNvPr id="7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, Punkte &amp; Livevideo – gro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Folien-Untertitel"/>
          <p:cNvSpPr txBox="1"/>
          <p:nvPr>
            <p:ph type="body" sz="quarter" idx="21" hasCustomPrompt="1"/>
          </p:nvPr>
        </p:nvSpPr>
        <p:spPr>
          <a:xfrm>
            <a:off x="1206500" y="2247900"/>
            <a:ext cx="9779000" cy="9347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Folien-Untertitel</a:t>
            </a:r>
          </a:p>
        </p:txBody>
      </p:sp>
      <p:sp>
        <p:nvSpPr>
          <p:cNvPr id="82" name="Textebene 1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Text für Folienpunkt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3" name="Folientitel"/>
          <p:cNvSpPr txBox="1"/>
          <p:nvPr>
            <p:ph type="title" hasCustomPrompt="1"/>
          </p:nvPr>
        </p:nvSpPr>
        <p:spPr>
          <a:xfrm>
            <a:off x="1206500" y="952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Folientitel</a:t>
            </a:r>
          </a:p>
        </p:txBody>
      </p:sp>
      <p:sp>
        <p:nvSpPr>
          <p:cNvPr id="8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bschnitt">
    <p:bg>
      <p:bgPr>
        <a:solidFill>
          <a:srgbClr val="0034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itel des Abschnitts"/>
          <p:cNvSpPr txBox="1"/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Titel des Abschnitts</a:t>
            </a:r>
          </a:p>
        </p:txBody>
      </p:sp>
      <p:sp>
        <p:nvSpPr>
          <p:cNvPr id="92" name="Foliennumm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Folientitel"/>
          <p:cNvSpPr txBox="1"/>
          <p:nvPr>
            <p:ph type="title" hasCustomPrompt="1"/>
          </p:nvPr>
        </p:nvSpPr>
        <p:spPr>
          <a:xfrm>
            <a:off x="1206500" y="952500"/>
            <a:ext cx="21971000" cy="1434949"/>
          </a:xfrm>
          <a:prstGeom prst="rect">
            <a:avLst/>
          </a:prstGeom>
        </p:spPr>
        <p:txBody>
          <a:bodyPr/>
          <a:lstStyle/>
          <a:p>
            <a:pPr/>
            <a:r>
              <a:t>Folientitel</a:t>
            </a:r>
          </a:p>
        </p:txBody>
      </p:sp>
      <p:sp>
        <p:nvSpPr>
          <p:cNvPr id="100" name="Folien-Untertitel"/>
          <p:cNvSpPr txBox="1"/>
          <p:nvPr>
            <p:ph type="body" sz="quarter" idx="21" hasCustomPrompt="1"/>
          </p:nvPr>
        </p:nvSpPr>
        <p:spPr>
          <a:xfrm>
            <a:off x="1206500" y="2247900"/>
            <a:ext cx="21971000" cy="9347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Folien-Untertitel</a:t>
            </a:r>
          </a:p>
        </p:txBody>
      </p:sp>
      <p:sp>
        <p:nvSpPr>
          <p:cNvPr id="10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Agenda-Titel"/>
          <p:cNvSpPr txBox="1"/>
          <p:nvPr>
            <p:ph type="title" hasCustomPrompt="1"/>
          </p:nvPr>
        </p:nvSpPr>
        <p:spPr>
          <a:xfrm>
            <a:off x="1206500" y="952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Agenda-Titel</a:t>
            </a:r>
          </a:p>
        </p:txBody>
      </p:sp>
      <p:sp>
        <p:nvSpPr>
          <p:cNvPr id="109" name="Agenda-Untertitel"/>
          <p:cNvSpPr txBox="1"/>
          <p:nvPr>
            <p:ph type="body" sz="quarter" idx="21" hasCustomPrompt="1"/>
          </p:nvPr>
        </p:nvSpPr>
        <p:spPr>
          <a:xfrm>
            <a:off x="1206500" y="2247900"/>
            <a:ext cx="21971000" cy="9347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Agenda-Untertitel</a:t>
            </a:r>
          </a:p>
        </p:txBody>
      </p:sp>
      <p:sp>
        <p:nvSpPr>
          <p:cNvPr id="110" name="Textebene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5pPr>
          </a:lstStyle>
          <a:p>
            <a:pPr/>
            <a:r>
              <a:t>Agendathemen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ufstel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ebene 1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solidFill>
                  <a:schemeClr val="accent1">
                    <a:hueOff val="114395"/>
                    <a:lumOff val="-24975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solidFill>
                  <a:schemeClr val="accent1">
                    <a:hueOff val="114395"/>
                    <a:lumOff val="-24975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solidFill>
                  <a:schemeClr val="accent1">
                    <a:hueOff val="114395"/>
                    <a:lumOff val="-24975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solidFill>
                  <a:schemeClr val="accent1">
                    <a:hueOff val="114395"/>
                    <a:lumOff val="-24975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solidFill>
                  <a:schemeClr val="accent1">
                    <a:hueOff val="114395"/>
                    <a:lumOff val="-24975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Aufstellung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akt (groß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ebene 1…"/>
          <p:cNvSpPr txBox="1"/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>
                <a:solidFill>
                  <a:schemeClr val="accent1">
                    <a:hueOff val="114395"/>
                    <a:lumOff val="-24975"/>
                  </a:schemeClr>
                </a:solidFill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>
                <a:solidFill>
                  <a:schemeClr val="accent1">
                    <a:hueOff val="114395"/>
                    <a:lumOff val="-24975"/>
                  </a:schemeClr>
                </a:solidFill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>
                <a:solidFill>
                  <a:schemeClr val="accent1">
                    <a:hueOff val="114395"/>
                    <a:lumOff val="-24975"/>
                  </a:schemeClr>
                </a:solidFill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>
                <a:solidFill>
                  <a:schemeClr val="accent1">
                    <a:hueOff val="114395"/>
                    <a:lumOff val="-24975"/>
                  </a:schemeClr>
                </a:solidFill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>
                <a:solidFill>
                  <a:schemeClr val="accent1">
                    <a:hueOff val="114395"/>
                    <a:lumOff val="-24975"/>
                  </a:schemeClr>
                </a:solidFill>
              </a:defRPr>
            </a:lvl5pPr>
          </a:lstStyle>
          <a:p>
            <a:pPr/>
            <a:r>
              <a:t>100 %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7" name="Fakten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Fakten</a:t>
            </a:r>
          </a:p>
        </p:txBody>
      </p:sp>
      <p:sp>
        <p:nvSpPr>
          <p:cNvPr id="12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Quellenangabe"/>
          <p:cNvSpPr txBox="1"/>
          <p:nvPr>
            <p:ph type="body" sz="quarter" idx="21" hasCustomPrompt="1"/>
          </p:nvPr>
        </p:nvSpPr>
        <p:spPr>
          <a:xfrm>
            <a:off x="2480825" y="10675453"/>
            <a:ext cx="201492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Quellenangabe</a:t>
            </a:r>
          </a:p>
        </p:txBody>
      </p:sp>
      <p:sp>
        <p:nvSpPr>
          <p:cNvPr id="136" name="Textebene 1…"/>
          <p:cNvSpPr txBox="1"/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pc="-170" sz="8500">
                <a:solidFill>
                  <a:schemeClr val="accent1">
                    <a:hueOff val="114395"/>
                    <a:lumOff val="-24975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pc="-170" sz="8500">
                <a:solidFill>
                  <a:schemeClr val="accent1">
                    <a:hueOff val="114395"/>
                    <a:lumOff val="-24975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pc="-170" sz="8500">
                <a:solidFill>
                  <a:schemeClr val="accent1">
                    <a:hueOff val="114395"/>
                    <a:lumOff val="-24975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pc="-170" sz="8500">
                <a:solidFill>
                  <a:schemeClr val="accent1">
                    <a:hueOff val="114395"/>
                    <a:lumOff val="-24975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pc="-170" sz="8500">
                <a:solidFill>
                  <a:schemeClr val="accent1">
                    <a:hueOff val="114395"/>
                    <a:lumOff val="-24975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„Bemerkenswert“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7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 - 3 Stü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Heißluftballon von unten vor blauem Himmel"/>
          <p:cNvSpPr/>
          <p:nvPr>
            <p:ph type="pic" sz="quarter" idx="21"/>
          </p:nvPr>
        </p:nvSpPr>
        <p:spPr>
          <a:xfrm>
            <a:off x="15436504" y="1270000"/>
            <a:ext cx="8167167" cy="54229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5" name="Nahaufnahme eines Heißluftballons von oben"/>
          <p:cNvSpPr/>
          <p:nvPr>
            <p:ph type="pic" sz="quarter" idx="22"/>
          </p:nvPr>
        </p:nvSpPr>
        <p:spPr>
          <a:xfrm>
            <a:off x="15461772" y="7085972"/>
            <a:ext cx="8148414" cy="543227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6" name="Heißluftballon von unten vor blauem Himmel"/>
          <p:cNvSpPr/>
          <p:nvPr>
            <p:ph type="pic" idx="23"/>
          </p:nvPr>
        </p:nvSpPr>
        <p:spPr>
          <a:xfrm>
            <a:off x="-124635" y="1270000"/>
            <a:ext cx="16859219" cy="1123947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7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Heißluftballon von unten vor blauem Himmel"/>
          <p:cNvSpPr/>
          <p:nvPr>
            <p:ph type="pic" idx="21"/>
          </p:nvPr>
        </p:nvSpPr>
        <p:spPr>
          <a:xfrm>
            <a:off x="0" y="-1270000"/>
            <a:ext cx="24384000" cy="1625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5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titel"/>
          <p:cNvSpPr txBox="1"/>
          <p:nvPr>
            <p:ph type="title" hasCustomPrompt="1"/>
          </p:nvPr>
        </p:nvSpPr>
        <p:spPr>
          <a:xfrm>
            <a:off x="1206500" y="952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Folientitel</a:t>
            </a:r>
          </a:p>
        </p:txBody>
      </p:sp>
      <p:sp>
        <p:nvSpPr>
          <p:cNvPr id="3" name="Textebene 1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Text für Folienpunkt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chemeClr val="accent1">
              <a:hueOff val="114395"/>
              <a:lumOff val="-24975"/>
            </a:schemeClr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chemeClr val="accent1">
              <a:hueOff val="114395"/>
              <a:lumOff val="-24975"/>
            </a:schemeClr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chemeClr val="accent1">
              <a:hueOff val="114395"/>
              <a:lumOff val="-24975"/>
            </a:schemeClr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chemeClr val="accent1">
              <a:hueOff val="114395"/>
              <a:lumOff val="-24975"/>
            </a:schemeClr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chemeClr val="accent1">
              <a:hueOff val="114395"/>
              <a:lumOff val="-24975"/>
            </a:schemeClr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chemeClr val="accent1">
              <a:hueOff val="114395"/>
              <a:lumOff val="-24975"/>
            </a:schemeClr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chemeClr val="accent1">
              <a:hueOff val="114395"/>
              <a:lumOff val="-24975"/>
            </a:schemeClr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chemeClr val="accent1">
              <a:hueOff val="114395"/>
              <a:lumOff val="-24975"/>
            </a:schemeClr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chemeClr val="accent1">
              <a:hueOff val="114395"/>
              <a:lumOff val="-24975"/>
            </a:schemeClr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keep_coding.png" descr="keep_coding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114117" y="-113272"/>
            <a:ext cx="28711498" cy="14235785"/>
          </a:xfrm>
          <a:prstGeom prst="rect">
            <a:avLst/>
          </a:prstGeom>
          <a:ln w="12700">
            <a:miter lim="400000"/>
          </a:ln>
        </p:spPr>
      </p:pic>
      <p:sp>
        <p:nvSpPr>
          <p:cNvPr id="172" name="Submission Cloover3"/>
          <p:cNvSpPr txBox="1"/>
          <p:nvPr>
            <p:ph type="ctrTitle"/>
          </p:nvPr>
        </p:nvSpPr>
        <p:spPr>
          <a:xfrm>
            <a:off x="762201" y="-1946373"/>
            <a:ext cx="21971004" cy="4648201"/>
          </a:xfrm>
          <a:prstGeom prst="rect">
            <a:avLst/>
          </a:prstGeom>
        </p:spPr>
        <p:txBody>
          <a:bodyPr/>
          <a:lstStyle/>
          <a:p>
            <a:pPr/>
            <a:r>
              <a:t>Submission Cloover3</a:t>
            </a:r>
          </a:p>
        </p:txBody>
      </p:sp>
      <p:sp>
        <p:nvSpPr>
          <p:cNvPr id="173" name="AI Sales Coach"/>
          <p:cNvSpPr txBox="1"/>
          <p:nvPr>
            <p:ph type="subTitle" sz="quarter" idx="1"/>
          </p:nvPr>
        </p:nvSpPr>
        <p:spPr>
          <a:xfrm>
            <a:off x="11394011" y="7524111"/>
            <a:ext cx="21971001" cy="1905001"/>
          </a:xfrm>
          <a:prstGeom prst="rect">
            <a:avLst/>
          </a:prstGeom>
        </p:spPr>
        <p:txBody>
          <a:bodyPr/>
          <a:lstStyle/>
          <a:p>
            <a:pPr/>
            <a:r>
              <a:t>AI Sales Coach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he problem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problem</a:t>
            </a:r>
          </a:p>
        </p:txBody>
      </p:sp>
      <p:sp>
        <p:nvSpPr>
          <p:cNvPr id="176" name="Imagine you’re a sales representative at a company that installs solar panels and heat pumps for residential customers in Germany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Imagine you’re a sales representative at a company that installs solar panels and heat pumps for residential customers in Germany</a:t>
            </a:r>
          </a:p>
          <a:p>
            <a:pPr/>
            <a:r>
              <a:t>A new lead comes in—a homeowner in a small town two hours south of Frankfurt.</a:t>
            </a:r>
          </a:p>
          <a:p>
            <a:pPr/>
            <a:r>
              <a:t>You know his name, his address, and that he clicked on a heat pump ad. That’s it.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How we understood the problem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How we understood the problem</a:t>
            </a:r>
          </a:p>
        </p:txBody>
      </p:sp>
      <p:sp>
        <p:nvSpPr>
          <p:cNvPr id="179" name="The customer wants a solution as soon as possible but has no idea about:…"/>
          <p:cNvSpPr txBox="1"/>
          <p:nvPr>
            <p:ph type="body" idx="1"/>
          </p:nvPr>
        </p:nvSpPr>
        <p:spPr>
          <a:xfrm>
            <a:off x="1206500" y="2921538"/>
            <a:ext cx="21971000" cy="9582978"/>
          </a:xfrm>
          <a:prstGeom prst="rect">
            <a:avLst/>
          </a:prstGeom>
        </p:spPr>
        <p:txBody>
          <a:bodyPr/>
          <a:lstStyle/>
          <a:p>
            <a:pPr marL="384047" indent="-384047" defTabSz="1536153">
              <a:spcBef>
                <a:spcPts val="2800"/>
              </a:spcBef>
              <a:defRPr sz="3024"/>
            </a:pPr>
            <a:r>
              <a:t>The customer wants a solution as soon as possible but has no idea about:</a:t>
            </a:r>
          </a:p>
          <a:p>
            <a:pPr lvl="1" marL="768095" indent="-384047" defTabSz="1536153">
              <a:spcBef>
                <a:spcPts val="2800"/>
              </a:spcBef>
              <a:defRPr sz="3024"/>
            </a:pPr>
            <a:r>
              <a:t> Products</a:t>
            </a:r>
          </a:p>
          <a:p>
            <a:pPr lvl="1" marL="768095" indent="-384047" defTabSz="1536153">
              <a:spcBef>
                <a:spcPts val="2800"/>
              </a:spcBef>
              <a:defRPr sz="3024"/>
            </a:pPr>
            <a:r>
              <a:t>Market conditions</a:t>
            </a:r>
          </a:p>
          <a:p>
            <a:pPr lvl="1" marL="768095" indent="-384047" defTabSz="1536153">
              <a:spcBef>
                <a:spcPts val="2800"/>
              </a:spcBef>
              <a:defRPr sz="3024"/>
            </a:pPr>
            <a:r>
              <a:t>Installation time and scope</a:t>
            </a:r>
          </a:p>
          <a:p>
            <a:pPr lvl="1" marL="768095" indent="-384047" defTabSz="1536153">
              <a:spcBef>
                <a:spcPts val="2800"/>
              </a:spcBef>
              <a:defRPr sz="3024"/>
            </a:pPr>
            <a:r>
              <a:t>Laws and incentives</a:t>
            </a:r>
          </a:p>
          <a:p>
            <a:pPr lvl="1" marL="768095" indent="-384047" defTabSz="1536153">
              <a:spcBef>
                <a:spcPts val="2800"/>
              </a:spcBef>
              <a:defRPr sz="3024"/>
            </a:pPr>
            <a:r>
              <a:t>What information an installer needs</a:t>
            </a:r>
          </a:p>
          <a:p>
            <a:pPr marL="384047" indent="-384047" defTabSz="1536153">
              <a:spcBef>
                <a:spcPts val="2800"/>
              </a:spcBef>
              <a:defRPr sz="3024"/>
            </a:pPr>
            <a:r>
              <a:t> Sales reps need as much relevant installation data as possible</a:t>
            </a:r>
          </a:p>
          <a:p>
            <a:pPr lvl="1" marL="768095" indent="-384047" defTabSz="1536153">
              <a:spcBef>
                <a:spcPts val="2800"/>
              </a:spcBef>
              <a:defRPr sz="3024"/>
            </a:pPr>
            <a:r>
              <a:t>They frequently visit customers but are unable to finalize a quote due to missing data</a:t>
            </a:r>
          </a:p>
          <a:p>
            <a:pPr lvl="1" marL="768095" indent="-384047" defTabSz="1536153">
              <a:spcBef>
                <a:spcPts val="2800"/>
              </a:spcBef>
              <a:defRPr sz="3024"/>
            </a:pPr>
            <a:r>
              <a:t>Filling in the necessary installation information is a difficult and time-consuming process</a:t>
            </a:r>
          </a:p>
          <a:p>
            <a:pPr marL="384047" indent="-384047" defTabSz="1536153">
              <a:spcBef>
                <a:spcPts val="2800"/>
              </a:spcBef>
              <a:defRPr sz="3024"/>
            </a:pPr>
            <a:r>
              <a:t>The sales representative is on the way to meet the customer, and their AI sales coach assistant is giving them final tips</a:t>
            </a:r>
          </a:p>
          <a:p>
            <a:pPr marL="384047" indent="-384047" defTabSz="1536153">
              <a:spcBef>
                <a:spcPts val="2800"/>
              </a:spcBef>
              <a:defRPr sz="3024"/>
            </a:pPr>
            <a:r>
              <a:t>Once there, the end customer and the sales representative will go through various scenarios based on a range of offer options, without having to wait for data to be populated by entering optional information</a:t>
            </a:r>
          </a:p>
          <a:p>
            <a:pPr marL="384047" indent="-384047" defTabSz="1536153">
              <a:spcBef>
                <a:spcPts val="2800"/>
              </a:spcBef>
              <a:defRPr sz="3024"/>
            </a:pPr>
            <a:r>
              <a:t> The salesperson is presented with various options and questions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A brief demonstration of the demo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 brief demonstration of the demo</a:t>
            </a:r>
          </a:p>
        </p:txBody>
      </p:sp>
      <p:sp>
        <p:nvSpPr>
          <p:cNvPr id="182" name="We decided to go with a Svelte + Kotlin + PostgreSQL stack"/>
          <p:cNvSpPr txBox="1"/>
          <p:nvPr>
            <p:ph type="body" idx="1"/>
          </p:nvPr>
        </p:nvSpPr>
        <p:spPr>
          <a:xfrm>
            <a:off x="1206500" y="2513382"/>
            <a:ext cx="21971000" cy="9991134"/>
          </a:xfrm>
          <a:prstGeom prst="rect">
            <a:avLst/>
          </a:prstGeom>
        </p:spPr>
        <p:txBody>
          <a:bodyPr/>
          <a:lstStyle/>
          <a:p>
            <a:pPr/>
            <a:r>
              <a:t>We decided to go with a Svelte + Kotlin + PostgreSQL stack</a:t>
            </a:r>
          </a:p>
        </p:txBody>
      </p:sp>
      <p:pic>
        <p:nvPicPr>
          <p:cNvPr id="183" name="architecture_grob.png" descr="architecture_grob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940919" y="3990109"/>
            <a:ext cx="11518901" cy="7874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" name="scenarios.png" descr="scenarios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282577" y="3753709"/>
            <a:ext cx="8940801" cy="92456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A brief demonstration of the demo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 brief demonstration of the demo</a:t>
            </a:r>
          </a:p>
        </p:txBody>
      </p:sp>
      <p:pic>
        <p:nvPicPr>
          <p:cNvPr id="187" name="add_new_customer.png" descr="add_new_customer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08907" y="2407818"/>
            <a:ext cx="5383464" cy="9769257"/>
          </a:xfrm>
          <a:prstGeom prst="rect">
            <a:avLst/>
          </a:prstGeom>
          <a:ln w="12700">
            <a:miter lim="400000"/>
          </a:ln>
        </p:spPr>
      </p:pic>
      <p:pic>
        <p:nvPicPr>
          <p:cNvPr id="188" name="customer_overview.png" descr="customer_overview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935568" y="3420430"/>
            <a:ext cx="8736482" cy="392211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9" name="max_mustermann.png" descr="max_mustermann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5959183" y="2230617"/>
            <a:ext cx="7696066" cy="5357715"/>
          </a:xfrm>
          <a:prstGeom prst="rect">
            <a:avLst/>
          </a:prstGeom>
          <a:ln w="12700">
            <a:miter lim="400000"/>
          </a:ln>
        </p:spPr>
      </p:pic>
      <p:pic>
        <p:nvPicPr>
          <p:cNvPr id="190" name="search_view.png" descr="search_view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0248042" y="7675701"/>
            <a:ext cx="9590006" cy="524477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Key assumptions we have mad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Key assumptions we have made</a:t>
            </a:r>
          </a:p>
        </p:txBody>
      </p:sp>
      <p:sp>
        <p:nvSpPr>
          <p:cNvPr id="193" name="The customer has already expressed interest in a specific product category…"/>
          <p:cNvSpPr txBox="1"/>
          <p:nvPr>
            <p:ph type="body" idx="1"/>
          </p:nvPr>
        </p:nvSpPr>
        <p:spPr>
          <a:xfrm>
            <a:off x="1206500" y="2642322"/>
            <a:ext cx="21971000" cy="9862194"/>
          </a:xfrm>
          <a:prstGeom prst="rect">
            <a:avLst/>
          </a:prstGeom>
        </p:spPr>
        <p:txBody>
          <a:bodyPr/>
          <a:lstStyle/>
          <a:p>
            <a:pPr/>
            <a:r>
              <a:t>The customer has already expressed interest in a specific product category</a:t>
            </a:r>
          </a:p>
          <a:p>
            <a:pPr/>
            <a:r>
              <a:t>Geodata such as solar factor and heat pump suitability (surface area or depth) are available for Germany and can be queried directly for a property address</a:t>
            </a:r>
          </a:p>
          <a:p>
            <a:pPr/>
            <a:r>
              <a:t>For subsidies, only German laws and subsidies apply</a:t>
            </a:r>
          </a:p>
          <a:p>
            <a:pPr/>
            <a:r>
              <a:t>Product prices, availability, and information are available on demand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otential impact of widespread us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 Potential impact of widespread use</a:t>
            </a:r>
          </a:p>
        </p:txBody>
      </p:sp>
      <p:sp>
        <p:nvSpPr>
          <p:cNvPr id="196" name="Customers are asked more targeted questions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Customers are asked more targeted questions</a:t>
            </a:r>
          </a:p>
          <a:p>
            <a:pPr/>
            <a:r>
              <a:t>Customers have greater confidence in the process</a:t>
            </a:r>
          </a:p>
          <a:p>
            <a:pPr/>
            <a:r>
              <a:t>Customers have a more realistic understanding of the installation</a:t>
            </a:r>
          </a:p>
          <a:p>
            <a:pPr/>
            <a:r>
              <a:t>Installers have greater planning certainty</a:t>
            </a:r>
          </a:p>
          <a:p>
            <a:pPr/>
            <a:r>
              <a:t>The energy transition can proceed more quickly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roblem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Problems</a:t>
            </a:r>
          </a:p>
        </p:txBody>
      </p:sp>
      <p:sp>
        <p:nvSpPr>
          <p:cNvPr id="199" name="The AI's API token for backend implementation was constantly invalid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AI's API token for backend implementation was constantly invalid</a:t>
            </a:r>
          </a:p>
          <a:p>
            <a:pPr/>
            <a:r>
              <a:t>AI credits were immediately invalid</a:t>
            </a:r>
          </a:p>
          <a:p>
            <a:pPr/>
            <a:r>
              <a:t>Internet bandwidth was no longer sufficient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keep_coding.png" descr="keep_coding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114117" y="-113272"/>
            <a:ext cx="28711498" cy="14235785"/>
          </a:xfrm>
          <a:prstGeom prst="rect">
            <a:avLst/>
          </a:prstGeom>
          <a:ln w="12700">
            <a:miter lim="400000"/>
          </a:ln>
        </p:spPr>
      </p:pic>
      <p:sp>
        <p:nvSpPr>
          <p:cNvPr id="202" name="Thank you 🥳"/>
          <p:cNvSpPr txBox="1"/>
          <p:nvPr>
            <p:ph type="title"/>
          </p:nvPr>
        </p:nvSpPr>
        <p:spPr>
          <a:xfrm>
            <a:off x="1572390" y="1380620"/>
            <a:ext cx="13182071" cy="472087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pPr/>
            <a:r>
              <a:t>Thank you 🥳</a:t>
            </a:r>
          </a:p>
        </p:txBody>
      </p:sp>
      <p:sp>
        <p:nvSpPr>
          <p:cNvPr id="203" name="keep coding"/>
          <p:cNvSpPr txBox="1"/>
          <p:nvPr/>
        </p:nvSpPr>
        <p:spPr>
          <a:xfrm>
            <a:off x="10768252" y="7126656"/>
            <a:ext cx="13182071" cy="47208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>
            <a:lvl1pPr>
              <a:lnSpc>
                <a:spcPct val="80000"/>
              </a:lnSpc>
              <a:spcBef>
                <a:spcPts val="0"/>
              </a:spcBef>
              <a:defRPr b="1" spc="-170" sz="8500">
                <a:solidFill>
                  <a:srgbClr val="D5D5D5"/>
                </a:solidFill>
              </a:defRPr>
            </a:lvl1pPr>
          </a:lstStyle>
          <a:p>
            <a:pPr/>
            <a:r>
              <a:t>keep coding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30_BasicColor">
  <a:themeElements>
    <a:clrScheme name="30_BasicColor">
      <a:dk1>
        <a:srgbClr val="000000"/>
      </a:dk1>
      <a:lt1>
        <a:srgbClr val="003462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30_BasicColor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30_BasicCol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30_BasicColor">
  <a:themeElements>
    <a:clrScheme name="30_BasicColor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30_BasicColor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30_BasicCol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